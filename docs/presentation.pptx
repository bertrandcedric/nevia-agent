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9" r:id="rId6"/>
  </p:sldMasterIdLst>
  <p:notesMasterIdLst>
    <p:notesMasterId r:id="rId7"/>
  </p:notes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48"/>
    <p:sldId id="273" r:id="rId47"/>
    <p:sldId id="274" r:id="rId46"/>
    <p:sldId id="275" r:id="rId45"/>
    <p:sldId id="276" r:id="rId44"/>
    <p:sldId id="277" r:id="rId43"/>
    <p:sldId id="278" r:id="rId42"/>
    <p:sldId id="279" r:id="rId41"/>
    <p:sldId id="280" r:id="rId40"/>
    <p:sldId id="281" r:id="rId39"/>
    <p:sldId id="282" r:id="rId38"/>
  </p:sldIdLst>
  <p:sldSz cy="5143500" cx="9144000"/>
  <p:notesSz cx="6858000" cy="9144000"/>
  <p:embeddedFontLst>
    <p:embeddedFont>
      <p:font typeface="Ubuntu"/>
      <p:regular r:id="rId65"/>
      <p:bold r:id="rId66"/>
      <p:italic r:id="rId67"/>
      <p:boldItalic r:id="rId68"/>
    </p:embeddedFont>
    <p:embeddedFont>
      <p:font typeface="Ubuntu Light"/>
      <p:regular r:id="rId69"/>
      <p:bold r:id="rId70"/>
      <p:italic r:id="rId71"/>
      <p:boldItalic r:id="rId72"/>
    </p:embeddedFont>
    <p:embeddedFont>
      <p:font typeface="Inter SemiBold"/>
      <p:regular r:id="rId73"/>
      <p:bold r:id="rId74"/>
      <p:italic r:id="rId75"/>
      <p:boldItalic r:id="rId76"/>
    </p:embeddedFont>
    <p:embeddedFont>
      <p:font typeface="Inter Light"/>
      <p:regular r:id="rId77"/>
      <p:bold r:id="rId78"/>
      <p:italic r:id="rId79"/>
      <p:boldItalic r:id="rId80"/>
    </p:embeddedFont>
    <p:embeddedFont>
      <p:font typeface="Nunito Sans Light"/>
      <p:regular r:id="rId81"/>
      <p:bold r:id="rId82"/>
      <p:italic r:id="rId83"/>
      <p:boldItalic r:id="rId84"/>
    </p:embeddedFont>
    <p:embeddedFont>
      <p:font typeface="Inter"/>
      <p:regular r:id="rId85"/>
      <p:bold r:id="rId86"/>
      <p:italic r:id="rId87"/>
      <p:boldItalic r:id="rId88"/>
    </p:embeddedFont>
    <p:embeddedFont>
      <p:font typeface="Funnel Display ExtraBold"/>
      <p:bold r:id="rId89"/>
    </p:embeddedFont>
    <p:embeddedFont>
      <p:font typeface="Poppins SemiBold"/>
      <p:regular r:id="rId90"/>
      <p:bold r:id="rId91"/>
      <p:italic r:id="rId92"/>
      <p:boldItalic r:id="rId93"/>
    </p:embeddedFont>
    <p:embeddedFont>
      <p:font typeface="Geist Mono SemiBold"/>
      <p:regular r:id="rId94"/>
      <p:bold r:id="rId95"/>
      <p:italic r:id="rId96"/>
      <p:boldItalic r:id="rId97"/>
    </p:embeddedFont>
    <p:embeddedFont>
      <p:font typeface="Geist Mono Medium"/>
      <p:regular r:id="rId98"/>
      <p:bold r:id="rId99"/>
      <p:italic r:id="rId100"/>
      <p:boldItalic r:id="rId101"/>
    </p:embeddedFont>
    <p:embeddedFont>
      <p:font typeface="Inter Medium"/>
      <p:regular r:id="rId102"/>
      <p:bold r:id="rId103"/>
      <p:italic r:id="rId104"/>
      <p:boldItalic r:id="rId1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3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CF6F1F-295C-4193-A172-9AC9BE687D27}">
  <a:tblStyle styleId="{14CF6F1F-295C-4193-A172-9AC9BE687D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3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8" Type="http://schemas.openxmlformats.org/officeDocument/2006/relationships/slide" Target="slides/slide27.xml"/><Relationship Id="rId39" Type="http://schemas.openxmlformats.org/officeDocument/2006/relationships/slide" Target="slides/slide26.xml"/><Relationship Id="rId40" Type="http://schemas.openxmlformats.org/officeDocument/2006/relationships/slide" Target="slides/slide25.xml"/><Relationship Id="rId41" Type="http://schemas.openxmlformats.org/officeDocument/2006/relationships/slide" Target="slides/slide24.xml"/><Relationship Id="rId42" Type="http://schemas.openxmlformats.org/officeDocument/2006/relationships/slide" Target="slides/slide23.xml"/><Relationship Id="rId43" Type="http://schemas.openxmlformats.org/officeDocument/2006/relationships/slide" Target="slides/slide22.xml"/><Relationship Id="rId44" Type="http://schemas.openxmlformats.org/officeDocument/2006/relationships/slide" Target="slides/slide21.xml"/><Relationship Id="rId45" Type="http://schemas.openxmlformats.org/officeDocument/2006/relationships/slide" Target="slides/slide20.xml"/><Relationship Id="rId46" Type="http://schemas.openxmlformats.org/officeDocument/2006/relationships/slide" Target="slides/slide19.xml"/><Relationship Id="rId47" Type="http://schemas.openxmlformats.org/officeDocument/2006/relationships/slide" Target="slides/slide18.xml"/><Relationship Id="rId48" Type="http://schemas.openxmlformats.org/officeDocument/2006/relationships/slide" Target="slides/slide17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font" Target="fonts/Ubuntu-regular.fntdata"/><Relationship Id="rId66" Type="http://schemas.openxmlformats.org/officeDocument/2006/relationships/font" Target="fonts/Ubuntu-bold.fntdata"/><Relationship Id="rId67" Type="http://schemas.openxmlformats.org/officeDocument/2006/relationships/font" Target="fonts/Ubuntu-italic.fntdata"/><Relationship Id="rId68" Type="http://schemas.openxmlformats.org/officeDocument/2006/relationships/font" Target="fonts/Ubuntu-boldItalic.fntdata"/><Relationship Id="rId69" Type="http://schemas.openxmlformats.org/officeDocument/2006/relationships/font" Target="fonts/UbuntuLight-regular.fntdata"/><Relationship Id="rId70" Type="http://schemas.openxmlformats.org/officeDocument/2006/relationships/font" Target="fonts/UbuntuLight-bold.fntdata"/><Relationship Id="rId71" Type="http://schemas.openxmlformats.org/officeDocument/2006/relationships/font" Target="fonts/UbuntuLight-italic.fntdata"/><Relationship Id="rId72" Type="http://schemas.openxmlformats.org/officeDocument/2006/relationships/font" Target="fonts/UbuntuLight-boldItalic.fntdata"/><Relationship Id="rId73" Type="http://schemas.openxmlformats.org/officeDocument/2006/relationships/font" Target="fonts/InterSemiBold-regular.fntdata"/><Relationship Id="rId74" Type="http://schemas.openxmlformats.org/officeDocument/2006/relationships/font" Target="fonts/InterSemiBold-bold.fntdata"/><Relationship Id="rId75" Type="http://schemas.openxmlformats.org/officeDocument/2006/relationships/font" Target="fonts/InterSemiBold-italic.fntdata"/><Relationship Id="rId76" Type="http://schemas.openxmlformats.org/officeDocument/2006/relationships/font" Target="fonts/InterSemiBold-boldItalic.fntdata"/><Relationship Id="rId77" Type="http://schemas.openxmlformats.org/officeDocument/2006/relationships/font" Target="fonts/InterLight-regular.fntdata"/><Relationship Id="rId78" Type="http://schemas.openxmlformats.org/officeDocument/2006/relationships/font" Target="fonts/InterLight-bold.fntdata"/><Relationship Id="rId79" Type="http://schemas.openxmlformats.org/officeDocument/2006/relationships/font" Target="fonts/InterLight-italic.fntdata"/><Relationship Id="rId80" Type="http://schemas.openxmlformats.org/officeDocument/2006/relationships/font" Target="fonts/InterLight-boldItalic.fntdata"/><Relationship Id="rId81" Type="http://schemas.openxmlformats.org/officeDocument/2006/relationships/font" Target="fonts/NunitoSansLight-regular.fntdata"/><Relationship Id="rId82" Type="http://schemas.openxmlformats.org/officeDocument/2006/relationships/font" Target="fonts/NunitoSansLight-bold.fntdata"/><Relationship Id="rId83" Type="http://schemas.openxmlformats.org/officeDocument/2006/relationships/font" Target="fonts/NunitoSansLight-italic.fntdata"/><Relationship Id="rId84" Type="http://schemas.openxmlformats.org/officeDocument/2006/relationships/font" Target="fonts/NunitoSansLight-boldItalic.fntdata"/><Relationship Id="rId85" Type="http://schemas.openxmlformats.org/officeDocument/2006/relationships/font" Target="fonts/Inter-regular.fntdata"/><Relationship Id="rId86" Type="http://schemas.openxmlformats.org/officeDocument/2006/relationships/font" Target="fonts/Inter-bold.fntdata"/><Relationship Id="rId87" Type="http://schemas.openxmlformats.org/officeDocument/2006/relationships/font" Target="fonts/Inter-italic.fntdata"/><Relationship Id="rId88" Type="http://schemas.openxmlformats.org/officeDocument/2006/relationships/font" Target="fonts/Inter-boldItalic.fntdata"/><Relationship Id="rId89" Type="http://schemas.openxmlformats.org/officeDocument/2006/relationships/font" Target="fonts/FunnelDisplayExtraBold-bold.fntdata"/><Relationship Id="rId90" Type="http://schemas.openxmlformats.org/officeDocument/2006/relationships/font" Target="fonts/PoppinsSemiBold-regular.fntdata"/><Relationship Id="rId91" Type="http://schemas.openxmlformats.org/officeDocument/2006/relationships/font" Target="fonts/PoppinsSemiBold-bold.fntdata"/><Relationship Id="rId92" Type="http://schemas.openxmlformats.org/officeDocument/2006/relationships/font" Target="fonts/PoppinsSemiBold-italic.fntdata"/><Relationship Id="rId93" Type="http://schemas.openxmlformats.org/officeDocument/2006/relationships/font" Target="fonts/PoppinsSemiBold-boldItalic.fntdata"/><Relationship Id="rId94" Type="http://schemas.openxmlformats.org/officeDocument/2006/relationships/font" Target="fonts/GeistMonoSemiBold-regular.fntdata"/><Relationship Id="rId95" Type="http://schemas.openxmlformats.org/officeDocument/2006/relationships/font" Target="fonts/GeistMonoSemiBold-bold.fntdata"/><Relationship Id="rId96" Type="http://schemas.openxmlformats.org/officeDocument/2006/relationships/font" Target="fonts/GeistMonoSemiBold-italic.fntdata"/><Relationship Id="rId97" Type="http://schemas.openxmlformats.org/officeDocument/2006/relationships/font" Target="fonts/GeistMonoSemiBold-boldItalic.fntdata"/><Relationship Id="rId98" Type="http://schemas.openxmlformats.org/officeDocument/2006/relationships/font" Target="fonts/GeistMonoMedium-regular.fntdata"/><Relationship Id="rId99" Type="http://schemas.openxmlformats.org/officeDocument/2006/relationships/font" Target="fonts/GeistMonoMedium-bold.fntdata"/><Relationship Id="rId100" Type="http://schemas.openxmlformats.org/officeDocument/2006/relationships/font" Target="fonts/GeistMonoMedium-italic.fntdata"/><Relationship Id="rId101" Type="http://schemas.openxmlformats.org/officeDocument/2006/relationships/font" Target="fonts/GeistMonoMedium-boldItalic.fntdata"/><Relationship Id="rId102" Type="http://schemas.openxmlformats.org/officeDocument/2006/relationships/font" Target="fonts/InterMedium-regular.fntdata"/><Relationship Id="rId103" Type="http://schemas.openxmlformats.org/officeDocument/2006/relationships/font" Target="fonts/InterMedium-bold.fntdata"/><Relationship Id="rId104" Type="http://schemas.openxmlformats.org/officeDocument/2006/relationships/font" Target="fonts/InterMedium-italic.fntdata"/><Relationship Id="rId105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**Nevia** gives them computers, databases and branches to work on **m2p** (Mongo to Postgres) moves the data, **acc** (application code changer) moves the code You review the evidence, and decide The promise: a migration that is evidence-driven at every step, where the agents do the tedious work on throwaway infrastructure, and a person keeps the decisions (merge, cut over).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Two halves, data and code, each with its own way to fail. And trying is costly when environments are slow to make: that is where Nevia comes 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workspace holds computers, databases and secrets; access is by principal and role. The CLI and the API are the same surface, which is what makes agents possible.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Each of these maps to a step of the path: branches for the data's tries, checkpoints for the code's sandbox, secrets and keys for running agents safely.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analysis is evidence for the schema, not the schema: it saw a sample, so its NOT NULL and VARCHAR(n) are hints to check, not rules. Its warnings become a to-do list for both agents.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The loop is the point: it fails, reads the report, fixes, tries again on a fresh branch. Branches are what make that loop cheap enough to run unattended.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starts on your machine. You start the agent: it gets its own computer on Nevia, and does the rest from there.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source and a target. The agent sets up MongoDB with the data to move, and an empty PostgreSQL to receive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First, understand the data. mongo2pg looks at a sample of MongoDB, and proposes how to store it in PostgreSQL.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first try, on a copy. The data goes into a fresh copy of the target, made in seconds. The check finds differences: it fails.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out why, and fix it. The AI reads what went wrong, and corrects how the data is converted; it changes the tables only if it must.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second try, on a new copy. The fix is tried on another fresh copy. Not right yet.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Another look, another fix. The AI finds the next problem, and corrects it.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third try passes. Every table matches the source, row for row. Each try is kept, as proof.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Done. The data is in PostgreSQL, and you get the report and the SQL that did 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acc also builds any feature you describe ("run task"), tested the same way on a fork of the data: the same pipeline serves the migration and the product work around it.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starts on your machine. You start the agent: it gets its own computer on Nevia, and does the rest from there.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fresh copy of the app. The agent takes the app's latest code from GitHub, and runs it with its MongoDB and sample data.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First, understand the data. mongo2pg looks at how the data is organised, never at the values themselves.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AI changes the code. From the app's code and that analysis, it moves the app to PostgreSQL, without changing what the app does.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Rebuilt and tested. The new version of the app is built, and its tests must pass.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Tried for real. A copy of the running app starts the new version, on its own PostgreSQL with the sample data: it must answer.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pull request, for you to review. Both versions stay online on Nevia, to compare side by side: today's app on MongoDB, the new one on PostgreSQL. You decide to merge.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The agents never merge and never cut over. They hand over artefacts (a PR, a SQL file, reports) that a team can review with its usual tools.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loop on the concepts: computers, branches, checkpoints and secrets, each used for what it is good at.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_class: text The whole path is reproducible, run after run, in a dedicated Nevia workspace.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m2p setup &amp;&amp; agent m2p run; agent acc setup &amp;&amp; agent acc run migrate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">
  <p:cSld name="TITLE_2_2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4" title="Cover dar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-46200" y="-15175"/>
            <a:ext cx="9236381" cy="51738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1663950" y="1852700"/>
            <a:ext cx="58161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Funnel Display ExtraBold"/>
              <a:buNone/>
              <a:defRPr b="0" sz="3600">
                <a:solidFill>
                  <a:srgbClr val="FFFFFF"/>
                </a:solidFill>
                <a:latin typeface="Funnel Display ExtraBold"/>
                <a:ea typeface="Funnel Display ExtraBold"/>
                <a:cs typeface="Funnel Display ExtraBold"/>
                <a:sym typeface="Funnel Display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  <a:latin typeface="Ubuntu Light"/>
                <a:ea typeface="Ubuntu Light"/>
                <a:cs typeface="Ubuntu Light"/>
                <a:sym typeface="Ubuntu Ligh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270250" y="3609700"/>
            <a:ext cx="4603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C5EF"/>
              </a:buClr>
              <a:buSzPts val="1000"/>
              <a:buNone/>
              <a:defRPr>
                <a:solidFill>
                  <a:srgbClr val="B9C5EF"/>
                </a:solidFill>
              </a:defRPr>
            </a:lvl9pPr>
          </a:lstStyle>
          <a:p/>
        </p:txBody>
      </p:sp>
      <p:pic>
        <p:nvPicPr>
          <p:cNvPr id="59" name="Google Shape;59;p14" title="logo-aiven-white-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159" y="835200"/>
            <a:ext cx="1472126" cy="42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2" type="subTitle"/>
          </p:nvPr>
        </p:nvSpPr>
        <p:spPr>
          <a:xfrm>
            <a:off x="2756550" y="3339700"/>
            <a:ext cx="36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Geist Mono Medium"/>
              <a:buNone/>
              <a:defRPr sz="800">
                <a:solidFill>
                  <a:schemeClr val="accent1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477">
          <p15:clr>
            <a:srgbClr val="FA7B17"/>
          </p15:clr>
        </p15:guide>
        <p15:guide id="2" pos="3609">
          <p15:clr>
            <a:srgbClr val="E46962"/>
          </p15:clr>
        </p15:guide>
        <p15:guide id="3" orient="horz" pos="340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pos="340">
          <p15:clr>
            <a:srgbClr val="E46962"/>
          </p15:clr>
        </p15:guide>
        <p15:guide id="6" pos="3240">
          <p15:clr>
            <a:srgbClr val="E46962"/>
          </p15:clr>
        </p15:guide>
        <p15:guide id="7" orient="horz" pos="526">
          <p15:clr>
            <a:srgbClr val="E46962"/>
          </p15:clr>
        </p15:guide>
        <p15:guide id="8" orient="horz" pos="1443">
          <p15:clr>
            <a:srgbClr val="E46962"/>
          </p15:clr>
        </p15:guide>
        <p15:guide id="9" orient="horz" pos="2900">
          <p15:clr>
            <a:srgbClr val="E46962"/>
          </p15:clr>
        </p15:guide>
        <p15:guide id="10" orient="horz" pos="1797">
          <p15:clr>
            <a:srgbClr val="E46962"/>
          </p15:clr>
        </p15:guide>
        <p15:guide id="11" orient="horz" pos="1974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1 block B">
  <p:cSld name="TITLE_AND_BODY_1_4_1_1_1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545768" y="1055150"/>
            <a:ext cx="8052600" cy="3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130" name="Google Shape;130;p20"/>
          <p:cNvGrpSpPr/>
          <p:nvPr/>
        </p:nvGrpSpPr>
        <p:grpSpPr>
          <a:xfrm>
            <a:off x="0" y="0"/>
            <a:ext cx="9144000" cy="5146800"/>
            <a:chOff x="0" y="0"/>
            <a:chExt cx="9144000" cy="5146800"/>
          </a:xfrm>
        </p:grpSpPr>
        <p:cxnSp>
          <p:nvCxnSpPr>
            <p:cNvPr id="131" name="Google Shape;131;p20"/>
            <p:cNvCxnSpPr/>
            <p:nvPr/>
          </p:nvCxnSpPr>
          <p:spPr>
            <a:xfrm>
              <a:off x="0" y="4921525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228600" y="0"/>
              <a:ext cx="0" cy="5146800"/>
            </a:xfrm>
            <a:prstGeom prst="straightConnector1">
              <a:avLst/>
            </a:prstGeom>
            <a:noFill/>
            <a:ln cap="flat" cmpd="sng" w="9525">
              <a:solidFill>
                <a:srgbClr val="44454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8915400" y="0"/>
              <a:ext cx="0" cy="5146800"/>
            </a:xfrm>
            <a:prstGeom prst="straightConnector1">
              <a:avLst/>
            </a:prstGeom>
            <a:noFill/>
            <a:ln cap="flat" cmpd="sng" w="9525">
              <a:solidFill>
                <a:srgbClr val="44454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20"/>
            <p:cNvCxnSpPr/>
            <p:nvPr/>
          </p:nvCxnSpPr>
          <p:spPr>
            <a:xfrm>
              <a:off x="20961" y="4921250"/>
              <a:ext cx="9099900" cy="0"/>
            </a:xfrm>
            <a:prstGeom prst="straightConnector1">
              <a:avLst/>
            </a:prstGeom>
            <a:noFill/>
            <a:ln cap="flat" cmpd="sng" w="9525">
              <a:solidFill>
                <a:srgbClr val="44454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0"/>
            <p:cNvCxnSpPr/>
            <p:nvPr/>
          </p:nvCxnSpPr>
          <p:spPr>
            <a:xfrm>
              <a:off x="0" y="228600"/>
              <a:ext cx="9143700" cy="0"/>
            </a:xfrm>
            <a:prstGeom prst="straightConnector1">
              <a:avLst/>
            </a:prstGeom>
            <a:noFill/>
            <a:ln cap="flat" cmpd="sng" w="9525">
              <a:solidFill>
                <a:srgbClr val="44454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353175" y="4926750"/>
            <a:ext cx="5487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2pPr>
            <a:lvl3pPr lvl="2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3pPr>
            <a:lvl4pPr lvl="3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4pPr>
            <a:lvl5pPr lvl="4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5pPr>
            <a:lvl6pPr lvl="5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6pPr>
            <a:lvl7pPr lvl="6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7pPr>
            <a:lvl8pPr lvl="7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8pPr>
            <a:lvl9pPr lvl="8">
              <a:buNone/>
              <a:defRPr sz="800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idx="2" type="subTitle"/>
          </p:nvPr>
        </p:nvSpPr>
        <p:spPr>
          <a:xfrm>
            <a:off x="540000" y="4921525"/>
            <a:ext cx="4878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Geist Mono Medium"/>
              <a:buNone/>
              <a:defRPr i="0" sz="700" u="none" cap="none" strike="noStrike">
                <a:solidFill>
                  <a:schemeClr val="dk2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Inter Light"/>
              <a:buNone/>
              <a:defRPr i="0" sz="800" u="none" cap="none" strike="noStrike">
                <a:solidFill>
                  <a:schemeClr val="dk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3" type="subTitle"/>
          </p:nvPr>
        </p:nvSpPr>
        <p:spPr>
          <a:xfrm>
            <a:off x="540000" y="353075"/>
            <a:ext cx="36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Geist Mono Medium"/>
              <a:buNone/>
              <a:defRPr sz="800">
                <a:solidFill>
                  <a:schemeClr val="accent1"/>
                </a:solidFill>
                <a:latin typeface="Geist Mono Medium"/>
                <a:ea typeface="Geist Mono Medium"/>
                <a:cs typeface="Geist Mono Medium"/>
                <a:sym typeface="Geist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537125" y="540000"/>
            <a:ext cx="81132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i="0" sz="2200" u="none" cap="none" strike="noStrike">
                <a:solidFill>
                  <a:schemeClr val="lt1"/>
                </a:solidFill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buntu"/>
              <a:buNone/>
              <a:defRPr b="0" i="0" sz="3000" u="none" cap="none" strike="noStrik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416">
          <p15:clr>
            <a:srgbClr val="FA7B17"/>
          </p15:clr>
        </p15:guide>
        <p15:guide id="2" orient="horz" pos="340">
          <p15:clr>
            <a:srgbClr val="FA7B17"/>
          </p15:clr>
        </p15:guide>
        <p15:guide id="3" pos="344">
          <p15:clr>
            <a:srgbClr val="E46962"/>
          </p15:clr>
        </p15:guide>
        <p15:guide id="4" orient="horz" pos="2901">
          <p15:clr>
            <a:srgbClr val="E46962"/>
          </p15:clr>
        </p15:guide>
        <p15:guide id="5" orient="horz" pos="310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eft aligned A">
  <p:cSld name="BLANK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 title="New_Section cover 6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-27062" y="-15175"/>
            <a:ext cx="9236381" cy="517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type="title"/>
          </p:nvPr>
        </p:nvSpPr>
        <p:spPr>
          <a:xfrm>
            <a:off x="537913" y="1491750"/>
            <a:ext cx="648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Funnel Display ExtraBold"/>
              <a:buNone/>
              <a:defRPr b="0" i="0" u="none" cap="none" strike="noStrike">
                <a:solidFill>
                  <a:srgbClr val="FFFFFF"/>
                </a:solidFill>
                <a:latin typeface="Funnel Display ExtraBold"/>
                <a:ea typeface="Funnel Display ExtraBold"/>
                <a:cs typeface="Funnel Display ExtraBold"/>
                <a:sym typeface="Funnel Display ExtraBol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buntu"/>
              <a:buNone/>
              <a:defRPr b="0" i="0" sz="40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9">
          <p15:clr>
            <a:srgbClr val="E46962"/>
          </p15:clr>
        </p15:guide>
      </p15:sldGuideLst>
    </p:ext>
  </p:extLst>
</p:sldLayout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0.xml"/><Relationship Id="rId40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92450" y="379425"/>
            <a:ext cx="755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Funnel Display ExtraBold"/>
              <a:buNone/>
              <a:defRPr i="0" sz="3400" u="none" cap="none" strike="noStrike">
                <a:solidFill>
                  <a:schemeClr val="dk1"/>
                </a:solidFill>
                <a:latin typeface="Funnel Display ExtraBold"/>
                <a:ea typeface="Funnel Display ExtraBold"/>
                <a:cs typeface="Funnel Display ExtraBold"/>
                <a:sym typeface="Funnel Display ExtraBol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b="0" i="0" sz="2400" u="none" cap="none" strike="noStrik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92525" y="1152475"/>
            <a:ext cx="735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●"/>
              <a:def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Char char="●"/>
              <a:defRPr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5" r:id="rId7"/>
    <p:sldLayoutId id="214748366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MONGODB TO POSTGRESQL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path for the migration, with two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NEVIA · TWO AI AGENTS · M2P AND ACC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data has no schema</a:t>
            </a:r>
            <a:r>
              <a:rPr sz="1300" b="0">
                <a:solidFill>
                  <a:srgbClr val="FFFFFF"/>
                </a:solidFill>
                <a:latin typeface="Inter"/>
              </a:rPr>
              <a:t>: mixed types, nested, missing fields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code speaks MongoDB</a:t>
            </a:r>
            <a:r>
              <a:rPr sz="1300" b="0">
                <a:solidFill>
                  <a:srgbClr val="FFFFFF"/>
                </a:solidFill>
                <a:latin typeface="Inter"/>
              </a:rPr>
              <a:t>: driver, queries, seed data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API must not change</a:t>
            </a:r>
            <a:r>
              <a:rPr sz="1300" b="0">
                <a:solidFill>
                  <a:srgbClr val="FFFFFF"/>
                </a:solidFill>
                <a:latin typeface="Inter"/>
              </a:rPr>
              <a:t>: same routes, same JSON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Proof is expensive</a:t>
            </a:r>
            <a:r>
              <a:rPr sz="1300" b="0">
                <a:solidFill>
                  <a:srgbClr val="FFFFFF"/>
                </a:solidFill>
                <a:latin typeface="Inter"/>
              </a:rPr>
              <a:t>: every try needs a fresh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is hard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NEVIA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Nevia, in five concepts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496" y="1234440"/>
          <a:ext cx="8046720" cy="2304288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6217920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FA74"/>
                          </a:solidFill>
                          <a:latin typeface="Inter"/>
                        </a:rPr>
                        <a:t>Concept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FA74"/>
                          </a:solidFill>
                          <a:latin typeface="Inter"/>
                        </a:rPr>
                        <a:t>What it is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Computer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Inter"/>
                        </a:rPr>
                        <a:t>a Linux machine in seconds, with an HTTPS URL; it sleeps when idle, wakes on demand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Postgres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Inter"/>
                        </a:rPr>
                        <a:t>a managed database, with its connection in a workspace secret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Branch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Inter"/>
                        </a:rPr>
                        <a:t>a copy of a database, or of a computer's disks, made in seconds: a fork of its data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Checkpoint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Inter"/>
                        </a:rPr>
                        <a:t>a capture of a running computer, restored as a new one: the same app, side by side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Secret, key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Inter"/>
                        </a:rPr>
                        <a:t>a workspace secret reaches a command only when it runs; a principal's key, for an agent</a:t>
                      </a:r>
                    </a:p>
                  </a:txBody>
                  <a:tcPr marL="73152" marR="73152" anchor="ctr">
                    <a:solidFill>
                      <a:srgbClr val="05080F"/>
                    </a:solidFill>
                    <a:lnB w="9525">
                      <a:solidFill>
                        <a:srgbClr val="44454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496" y="4297680"/>
            <a:ext cx="8046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19294"/>
                </a:solidFill>
                <a:latin typeface="Inter"/>
              </a:rPr>
              <a:t>All of it through one API: what a person does in the console, an agent can do too.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Throwaway is cheap</a:t>
            </a:r>
            <a:r>
              <a:rPr sz="1300" b="0">
                <a:solidFill>
                  <a:srgbClr val="FFFFFF"/>
                </a:solidFill>
                <a:latin typeface="Inter"/>
              </a:rPr>
              <a:t>: a branch per try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real app, beside itself</a:t>
            </a:r>
            <a:r>
              <a:rPr sz="1300" b="0">
                <a:solidFill>
                  <a:srgbClr val="FFFFFF"/>
                </a:solidFill>
                <a:latin typeface="Inter"/>
              </a:rPr>
              <a:t>: a sandbox from a checkpoint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Agents get an API</a:t>
            </a:r>
            <a:r>
              <a:rPr sz="1300" b="0">
                <a:solidFill>
                  <a:srgbClr val="FFFFFF"/>
                </a:solidFill>
                <a:latin typeface="Inter"/>
              </a:rPr>
              <a:t>: their own computer and key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Secrets stay out of reach</a:t>
            </a:r>
            <a:r>
              <a:rPr sz="1300" b="0">
                <a:solidFill>
                  <a:srgbClr val="FFFFFF"/>
                </a:solidFill>
                <a:latin typeface="Inter"/>
              </a:rPr>
              <a:t>: never in prompts or files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You pay for what runs</a:t>
            </a:r>
            <a:r>
              <a:rPr sz="1300" b="0">
                <a:solidFill>
                  <a:srgbClr val="FFFFFF"/>
                </a:solidFill>
                <a:latin typeface="Inter"/>
              </a:rPr>
              <a:t>: idle computers sleep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NEVIA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Nevia helps a migration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217920" y="1188720"/>
            <a:ext cx="2560320" cy="2926080"/>
          </a:xfrm>
        </p:spPr>
        <p:txBody>
          <a:bodyPr anchor="ctr" wrap="square"/>
          <a:lstStyle/>
          <a:p>
            <a:pPr marL="0" indent="0">
              <a:buNone/>
              <a:spcAft>
                <a:spcPts val="900"/>
              </a:spcAft>
            </a:pPr>
            <a:r>
              <a:rPr sz="1050">
                <a:solidFill>
                  <a:srgbClr val="5FFA74"/>
                </a:solidFill>
                <a:latin typeface="Inter"/>
              </a:rPr>
              <a:t>▸  </a:t>
            </a:r>
            <a:r>
              <a:rPr sz="1050" b="1">
                <a:solidFill>
                  <a:srgbClr val="FFFFFF"/>
                </a:solidFill>
                <a:latin typeface="Inter"/>
              </a:rPr>
              <a:t>m2p</a:t>
            </a:r>
            <a:r>
              <a:rPr sz="1050" b="0">
                <a:solidFill>
                  <a:srgbClr val="FFFFFF"/>
                </a:solidFill>
                <a:latin typeface="Inter"/>
              </a:rPr>
              <a:t>, Mongo to Postgres: the agent that migrates the data</a:t>
            </a:r>
          </a:p>
          <a:p>
            <a:pPr marL="0" indent="0">
              <a:buNone/>
              <a:spcAft>
                <a:spcPts val="900"/>
              </a:spcAft>
            </a:pPr>
            <a:r>
              <a:rPr sz="1050">
                <a:solidFill>
                  <a:srgbClr val="5FFA74"/>
                </a:solidFill>
                <a:latin typeface="Inter"/>
              </a:rPr>
              <a:t>▸  </a:t>
            </a:r>
            <a:r>
              <a:rPr sz="1050" b="1">
                <a:solidFill>
                  <a:srgbClr val="FFFFFF"/>
                </a:solidFill>
                <a:latin typeface="Inter"/>
              </a:rPr>
              <a:t>acc</a:t>
            </a:r>
            <a:r>
              <a:rPr sz="1050" b="0">
                <a:solidFill>
                  <a:srgbClr val="FFFFFF"/>
                </a:solidFill>
                <a:latin typeface="Inter"/>
              </a:rPr>
              <a:t>, application code changer: the agent that changes the app's code</a:t>
            </a:r>
          </a:p>
          <a:p>
            <a:pPr marL="0" indent="0">
              <a:buNone/>
              <a:spcAft>
                <a:spcPts val="900"/>
              </a:spcAft>
            </a:pPr>
            <a:r>
              <a:rPr sz="1050">
                <a:solidFill>
                  <a:srgbClr val="5FFA74"/>
                </a:solidFill>
                <a:latin typeface="Inter"/>
              </a:rPr>
              <a:t>▸  </a:t>
            </a:r>
            <a:r>
              <a:rPr sz="1050" b="1">
                <a:solidFill>
                  <a:srgbClr val="FFFFFF"/>
                </a:solidFill>
                <a:latin typeface="Inter"/>
              </a:rPr>
              <a:t>mongo2pg</a:t>
            </a:r>
            <a:r>
              <a:rPr sz="1050" b="0">
                <a:solidFill>
                  <a:srgbClr val="FFFFFF"/>
                </a:solidFill>
                <a:latin typeface="Inter"/>
              </a:rPr>
              <a:t> assesses MongoDB first: both agents start from its analysis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050">
                <a:solidFill>
                  <a:srgbClr val="5FFA74"/>
                </a:solidFill>
                <a:latin typeface="Inter"/>
              </a:rPr>
              <a:t>▸  </a:t>
            </a:r>
            <a:r>
              <a:rPr sz="1050" b="1">
                <a:solidFill>
                  <a:srgbClr val="FFFFFF"/>
                </a:solidFill>
                <a:latin typeface="Inter"/>
              </a:rPr>
              <a:t>You</a:t>
            </a:r>
            <a:r>
              <a:rPr sz="1050" b="0">
                <a:solidFill>
                  <a:srgbClr val="FFFFFF"/>
                </a:solidFill>
                <a:latin typeface="Inter"/>
              </a:rPr>
              <a:t> validate, and cut 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THE MIGRATION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migration, in one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188720"/>
            <a:ext cx="1554480" cy="566928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The app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its code, its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1371600" cy="7315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MongoDB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the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246120"/>
            <a:ext cx="1371600" cy="7315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PostgreSQL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234440" y="1755648"/>
            <a:ext cx="1463040" cy="1490472"/>
          </a:xfrm>
          <a:prstGeom prst="line">
            <a:avLst/>
          </a:prstGeom>
          <a:ln w="12700">
            <a:solidFill>
              <a:srgbClr val="9192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03320" y="1755648"/>
            <a:ext cx="1463040" cy="1490472"/>
          </a:xfrm>
          <a:prstGeom prst="line">
            <a:avLst/>
          </a:prstGeom>
          <a:ln w="12700">
            <a:solidFill>
              <a:srgbClr val="9192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240280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19294"/>
                </a:solidFill>
                <a:latin typeface="Inter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19294"/>
                </a:solidFill>
                <a:latin typeface="Inter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852928"/>
            <a:ext cx="1463040" cy="420624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Assessment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mongo2pg: types, a model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3063240"/>
            <a:ext cx="640080" cy="246888"/>
          </a:xfrm>
          <a:prstGeom prst="line">
            <a:avLst/>
          </a:prstGeom>
          <a:ln w="12700">
            <a:solidFill>
              <a:srgbClr val="91929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00400" y="2651760"/>
            <a:ext cx="0" cy="201168"/>
          </a:xfrm>
          <a:prstGeom prst="line">
            <a:avLst/>
          </a:prstGeom>
          <a:ln w="12700">
            <a:solidFill>
              <a:srgbClr val="91929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0" y="3273552"/>
            <a:ext cx="0" cy="292608"/>
          </a:xfrm>
          <a:prstGeom prst="line">
            <a:avLst/>
          </a:prstGeom>
          <a:ln w="12700">
            <a:solidFill>
              <a:srgbClr val="91929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94560" y="2606040"/>
            <a:ext cx="2011680" cy="0"/>
          </a:xfrm>
          <a:prstGeom prst="line">
            <a:avLst/>
          </a:prstGeom>
          <a:ln w="38100">
            <a:solidFill>
              <a:srgbClr val="6F6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37360" y="2029968"/>
            <a:ext cx="2926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6F64FF"/>
                </a:solidFill>
                <a:latin typeface="Inter"/>
              </a:rPr>
              <a:t>acc · moves the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267712"/>
            <a:ext cx="29260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919294"/>
                </a:solidFill>
                <a:latin typeface="Inter"/>
              </a:rPr>
              <a:t>JDBC, tested in a sandbox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3611880"/>
            <a:ext cx="2377440" cy="0"/>
          </a:xfrm>
          <a:prstGeom prst="line">
            <a:avLst/>
          </a:prstGeom>
          <a:ln w="38100">
            <a:solidFill>
              <a:srgbClr val="DF56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3657600"/>
            <a:ext cx="2926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F56F2"/>
                </a:solidFill>
                <a:latin typeface="Inter"/>
              </a:rPr>
              <a:t>m2p · moves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95344"/>
            <a:ext cx="29260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919294"/>
                </a:solidFill>
                <a:latin typeface="Inter"/>
              </a:rPr>
              <a:t>tries on branches, checked row by 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m2p, Mongo to Postgres</a:t>
            </a:r>
            <a:r>
              <a:rPr sz="1300" b="0">
                <a:solidFill>
                  <a:srgbClr val="FFFFFF"/>
                </a:solidFill>
                <a:latin typeface="Inter"/>
              </a:rPr>
              <a:t>: an AI agent that migrates the data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One try, one branch</a:t>
            </a:r>
            <a:r>
              <a:rPr sz="1300" b="0">
                <a:solidFill>
                  <a:srgbClr val="FFFFFF"/>
                </a:solidFill>
                <a:latin typeface="Inter"/>
              </a:rPr>
              <a:t> of the target Postgres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Checked by mongo2pg</a:t>
            </a:r>
            <a:r>
              <a:rPr sz="1300" b="0">
                <a:solidFill>
                  <a:srgbClr val="FFFFFF"/>
                </a:solidFill>
                <a:latin typeface="Inter"/>
              </a:rPr>
              <a:t>: row counts and checksums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Fix the data first</a:t>
            </a:r>
            <a:r>
              <a:rPr sz="1300" b="0">
                <a:solidFill>
                  <a:srgbClr val="FFFFFF"/>
                </a:solidFill>
                <a:latin typeface="Inter"/>
              </a:rPr>
              <a:t>, the model only if needed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result</a:t>
            </a:r>
            <a:r>
              <a:rPr sz="1300" b="0">
                <a:solidFill>
                  <a:srgbClr val="FFFFFF"/>
                </a:solidFill>
                <a:latin typeface="Inter"/>
              </a:rPr>
              <a:t>: the target loaded, and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final.sql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THE DATA · M2P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Move the data: m2p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1/9 · It starts on your machine.</a:t>
            </a:r>
            <a:r>
              <a:rPr sz="1100" b="0">
                <a:solidFill>
                  <a:srgbClr val="FFFFFF"/>
                </a:solidFill>
                <a:latin typeface="Inter"/>
              </a:rPr>
              <a:t> You start the agent: it gets its own computer on Nevia, and does the rest from there.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2/9 · A source and a target.</a:t>
            </a:r>
            <a:r>
              <a:rPr sz="1100" b="0">
                <a:solidFill>
                  <a:srgbClr val="FFFFFF"/>
                </a:solidFill>
                <a:latin typeface="Inter"/>
              </a:rPr>
              <a:t> The agent sets up MongoDB with the data to move, and an empty PostgreSQL to receive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3/9 · First, understand the data.</a:t>
            </a:r>
            <a:r>
              <a:rPr sz="1100" b="0">
                <a:solidFill>
                  <a:srgbClr val="FFFFFF"/>
                </a:solidFill>
                <a:latin typeface="Inter"/>
              </a:rPr>
              <a:t> mongo2pg looks at a sample of MongoDB, and proposes how to store it in PostgreSQL.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5FFA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5FFA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4/9 · A first try, on a copy.</a:t>
            </a:r>
            <a:r>
              <a:rPr sz="1100" b="0">
                <a:solidFill>
                  <a:srgbClr val="FFFFFF"/>
                </a:solidFill>
                <a:latin typeface="Inter"/>
              </a:rPr>
              <a:t> The data goes into a fresh copy of the target, made in seconds. The check finds differences: it fails.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0059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5/9 · Find out why, and fix it.</a:t>
            </a:r>
            <a:r>
              <a:rPr sz="1100" b="0">
                <a:solidFill>
                  <a:srgbClr val="FFFFFF"/>
                </a:solidFill>
                <a:latin typeface="Inter"/>
              </a:rPr>
              <a:t> The AI reads what went wrong, and corrects how the data is converted; it changes the tables only if it must.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1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32119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06039" y="3086100"/>
            <a:ext cx="329184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9787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06039" y="3086100"/>
            <a:ext cx="3291840" cy="0"/>
          </a:xfrm>
          <a:prstGeom prst="line">
            <a:avLst/>
          </a:prstGeom>
          <a:ln w="12700">
            <a:solidFill>
              <a:srgbClr val="5FFA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897879" y="2514600"/>
            <a:ext cx="0" cy="571500"/>
          </a:xfrm>
          <a:prstGeom prst="line">
            <a:avLst/>
          </a:prstGeom>
          <a:ln w="12700">
            <a:solidFill>
              <a:srgbClr val="5FFA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3445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0059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m2p-try2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7840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6/9 · A second try, on a new copy.</a:t>
            </a:r>
            <a:r>
              <a:rPr sz="1100" b="0">
                <a:solidFill>
                  <a:srgbClr val="FFFFFF"/>
                </a:solidFill>
                <a:latin typeface="Inter"/>
              </a:rPr>
              <a:t> The fix is tried on another fresh copy. Not right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1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06039" y="3086100"/>
            <a:ext cx="329184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9787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3445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2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26364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263640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0059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m2p-try2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7840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5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7/9 · Another look, another fix.</a:t>
            </a:r>
            <a:r>
              <a:rPr sz="1100" b="0">
                <a:solidFill>
                  <a:srgbClr val="FFFFFF"/>
                </a:solidFill>
                <a:latin typeface="Inter"/>
              </a:rPr>
              <a:t> The AI finds the next problem, and corrects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1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06039" y="3086100"/>
            <a:ext cx="329184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9787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3445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2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26364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122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12279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06039" y="3086100"/>
            <a:ext cx="4572001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78040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06039" y="3086100"/>
            <a:ext cx="4572001" cy="0"/>
          </a:xfrm>
          <a:prstGeom prst="line">
            <a:avLst/>
          </a:prstGeom>
          <a:ln w="12700">
            <a:solidFill>
              <a:srgbClr val="5FFA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178040" y="2514600"/>
            <a:ext cx="0" cy="571500"/>
          </a:xfrm>
          <a:prstGeom prst="line">
            <a:avLst/>
          </a:prstGeom>
          <a:ln w="12700">
            <a:solidFill>
              <a:srgbClr val="5FFA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14616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0059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m2p-try2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7840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5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294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m2p-try3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799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5FFA74"/>
                </a:solidFill>
                <a:latin typeface="Inter"/>
              </a:rPr>
              <a:t>PASSES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8/9 · The third try passes.</a:t>
            </a:r>
            <a:r>
              <a:rPr sz="1100" b="0">
                <a:solidFill>
                  <a:srgbClr val="FFFFFF"/>
                </a:solidFill>
                <a:latin typeface="Inter"/>
              </a:rPr>
              <a:t> Every table matches the source, row for row. Each try is kept, as proof.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M2P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m2p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1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19" y="308610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3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39" y="3086100"/>
            <a:ext cx="201168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1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5429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9834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1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06039" y="3086100"/>
            <a:ext cx="3291840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97879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34455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2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26364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12279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06039" y="3086100"/>
            <a:ext cx="4572001" cy="0"/>
          </a:xfrm>
          <a:prstGeom prst="line">
            <a:avLst/>
          </a:prstGeom>
          <a:ln w="12700">
            <a:solidFill>
              <a:srgbClr val="6E7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78040" y="251460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14616" y="2606040"/>
            <a:ext cx="7315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5FFA74"/>
                </a:solidFill>
                <a:latin typeface="Geist Mono Medium"/>
              </a:rPr>
              <a:t>branch.sh 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726679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6679" y="2263140"/>
            <a:ext cx="182880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58199" y="2514600"/>
            <a:ext cx="0" cy="96012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057400" y="3474720"/>
            <a:ext cx="640079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057400" y="3337560"/>
            <a:ext cx="0" cy="13716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458199" y="2514600"/>
            <a:ext cx="0" cy="96012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057400" y="3474720"/>
            <a:ext cx="6400799" cy="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057400" y="3337560"/>
            <a:ext cx="0" cy="13716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m2p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 agent, mongo2pg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MongoDB and its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m2p-pg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target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7359" y="285292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5FFA74"/>
                </a:solidFill>
                <a:latin typeface="Inter"/>
              </a:rPr>
              <a:t>LOADED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model, warnings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m2p-try1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0059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m2p-try2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7840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F2545B"/>
                </a:solidFill>
                <a:latin typeface="Inter"/>
              </a:rPr>
              <a:t>FAILS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59" y="1188720"/>
            <a:ext cx="91440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Analyse, fix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SQL, or the model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294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m2p-try3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 new branch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799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5FFA74"/>
                </a:solidFill>
                <a:latin typeface="Inter"/>
              </a:rPr>
              <a:t>PASSES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0955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9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final.sql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DONE.md, the tries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82" name="Oval 81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source, target</a:t>
            </a:r>
          </a:p>
        </p:txBody>
      </p:sp>
      <p:sp>
        <p:nvSpPr>
          <p:cNvPr id="87" name="Oval 86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92" name="Oval 91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try 1</a:t>
            </a:r>
          </a:p>
        </p:txBody>
      </p:sp>
      <p:sp>
        <p:nvSpPr>
          <p:cNvPr id="97" name="Oval 96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29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fix</a:t>
            </a:r>
          </a:p>
        </p:txBody>
      </p:sp>
      <p:sp>
        <p:nvSpPr>
          <p:cNvPr id="102" name="Oval 10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try 2</a:t>
            </a:r>
          </a:p>
        </p:txBody>
      </p:sp>
      <p:sp>
        <p:nvSpPr>
          <p:cNvPr id="107" name="Oval 106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4830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893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fix</a:t>
            </a:r>
          </a:p>
        </p:txBody>
      </p:sp>
      <p:sp>
        <p:nvSpPr>
          <p:cNvPr id="112" name="Oval 111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8 · try 3</a:t>
            </a:r>
          </a:p>
        </p:txBody>
      </p:sp>
      <p:sp>
        <p:nvSpPr>
          <p:cNvPr id="117" name="Oval 116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9 · done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9 · done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9/9 · Done.</a:t>
            </a:r>
            <a:r>
              <a:rPr sz="1100" b="0">
                <a:solidFill>
                  <a:srgbClr val="FFFFFF"/>
                </a:solidFill>
                <a:latin typeface="Inter"/>
              </a:rPr>
              <a:t> The data is in PostgreSQL, and you get the report and the SQL that did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acc, application code changer</a:t>
            </a:r>
            <a:r>
              <a:rPr sz="1300" b="0">
                <a:solidFill>
                  <a:srgbClr val="FFFFFF"/>
                </a:solidFill>
                <a:latin typeface="Inter"/>
              </a:rPr>
              <a:t>: an AI agent that changes the app's code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AI rewrites the app</a:t>
            </a:r>
            <a:r>
              <a:rPr sz="1300" b="0">
                <a:solidFill>
                  <a:srgbClr val="FFFFFF"/>
                </a:solidFill>
                <a:latin typeface="Inter"/>
              </a:rPr>
              <a:t>: JDBC, normalized tables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API stays as it is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 seed data moves too</a:t>
            </a:r>
            <a:r>
              <a:rPr sz="1300" b="0">
                <a:solidFill>
                  <a:srgbClr val="FFFFFF"/>
                </a:solidFill>
                <a:latin typeface="Inter"/>
              </a:rPr>
              <a:t>, as SQL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Tested</a:t>
            </a:r>
            <a:r>
              <a:rPr sz="1300" b="0">
                <a:solidFill>
                  <a:srgbClr val="FFFFFF"/>
                </a:solidFill>
                <a:latin typeface="Inter"/>
              </a:rPr>
              <a:t> on a Postgres of its own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No trace of MongoDB left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THE CODE · ACC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Move the code: acc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1/7 · It starts on your machine.</a:t>
            </a:r>
            <a:r>
              <a:rPr sz="1100" b="0">
                <a:solidFill>
                  <a:srgbClr val="FFFFFF"/>
                </a:solidFill>
                <a:latin typeface="Inter"/>
              </a:rPr>
              <a:t> You start the agent: it gets its own computer on Nevia, and does the rest from there.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2/7 · A fresh copy of the app.</a:t>
            </a:r>
            <a:r>
              <a:rPr sz="1100" b="0">
                <a:solidFill>
                  <a:srgbClr val="FFFFFF"/>
                </a:solidFill>
                <a:latin typeface="Inter"/>
              </a:rPr>
              <a:t> The agent takes the app's latest code from GitHub, and runs it with its MongoDB and sample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without the values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3/7 · First, understand the data.</a:t>
            </a:r>
            <a:r>
              <a:rPr sz="1100" b="0">
                <a:solidFill>
                  <a:srgbClr val="FFFFFF"/>
                </a:solidFill>
                <a:latin typeface="Inter"/>
              </a:rPr>
              <a:t> mongo2pg looks at how the data is organised, never at the values themselves.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06039" y="1440180"/>
            <a:ext cx="219456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0599" y="144018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06039" y="1440180"/>
            <a:ext cx="2194560" cy="0"/>
          </a:xfrm>
          <a:prstGeom prst="line">
            <a:avLst/>
          </a:prstGeom>
          <a:ln w="12700">
            <a:solidFill>
              <a:srgbClr val="5FF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00599" y="1440180"/>
            <a:ext cx="0" cy="57150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without the values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acc-ai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AI: code, tests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4/7 · The AI changes the code.</a:t>
            </a:r>
            <a:r>
              <a:rPr sz="1100" b="0">
                <a:solidFill>
                  <a:srgbClr val="FFFFFF"/>
                </a:solidFill>
                <a:latin typeface="Inter"/>
              </a:rPr>
              <a:t> From the app's code and that analysis, it moves the app to PostgreSQL, without changing what the app does.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06039" y="1440180"/>
            <a:ext cx="219456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0599" y="144018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6635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166359" y="2263140"/>
            <a:ext cx="182881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without the values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acc-ai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AI: code, tests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Build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 and its tests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5/7 · Rebuilt and tested.</a:t>
            </a:r>
            <a:r>
              <a:rPr sz="1100" b="0">
                <a:solidFill>
                  <a:srgbClr val="FFFFFF"/>
                </a:solidFill>
                <a:latin typeface="Inter"/>
              </a:rPr>
              <a:t> The new version of the app is built, and its tests must pass.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06039" y="1440180"/>
            <a:ext cx="219456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0599" y="144018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6635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4652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46520" y="2263140"/>
            <a:ext cx="182880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85800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58000" y="2514600"/>
            <a:ext cx="0" cy="32004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without the values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acc-ai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AI: code, tests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Build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 and its tests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acc-app-RUN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from a checkpoint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2940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acc-pg-RUN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AI's postgres-init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6/7 · Tried for real.</a:t>
            </a:r>
            <a:r>
              <a:rPr sz="1100" b="0">
                <a:solidFill>
                  <a:srgbClr val="FFFFFF"/>
                </a:solidFill>
                <a:latin typeface="Inter"/>
              </a:rPr>
              <a:t> A copy of the running app starts the new version, on its own PostgreSQL with the sample data: it must answer.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ACC · STEP BY STEP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 works,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517843" y="4297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0995" y="384048"/>
            <a:ext cx="570585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Your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7161580" y="429768"/>
            <a:ext cx="64008" cy="64008"/>
          </a:xfrm>
          <a:prstGeom prst="ellipse">
            <a:avLst/>
          </a:prstGeom>
          <a:solidFill>
            <a:srgbClr val="2ED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4732" y="384048"/>
            <a:ext cx="378561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Compute</a:t>
            </a:r>
          </a:p>
        </p:txBody>
      </p:sp>
      <p:sp>
        <p:nvSpPr>
          <p:cNvPr id="10" name="Oval 9"/>
          <p:cNvSpPr/>
          <p:nvPr/>
        </p:nvSpPr>
        <p:spPr>
          <a:xfrm>
            <a:off x="7613294" y="429768"/>
            <a:ext cx="64008" cy="64008"/>
          </a:xfrm>
          <a:prstGeom prst="ellipse">
            <a:avLst/>
          </a:prstGeom>
          <a:solidFill>
            <a:srgbClr val="5FF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46" y="384048"/>
            <a:ext cx="26334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Data</a:t>
            </a:r>
          </a:p>
        </p:txBody>
      </p:sp>
      <p:sp>
        <p:nvSpPr>
          <p:cNvPr id="12" name="Oval 11"/>
          <p:cNvSpPr/>
          <p:nvPr/>
        </p:nvSpPr>
        <p:spPr>
          <a:xfrm>
            <a:off x="7949793" y="429768"/>
            <a:ext cx="64008" cy="64008"/>
          </a:xfrm>
          <a:prstGeom prst="ellipse">
            <a:avLst/>
          </a:prstGeom>
          <a:solidFill>
            <a:srgbClr val="6F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2945" y="384048"/>
            <a:ext cx="186537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8209483" y="429768"/>
            <a:ext cx="64008" cy="64008"/>
          </a:xfrm>
          <a:prstGeom prst="ellipse">
            <a:avLst/>
          </a:prstGeom>
          <a:solidFill>
            <a:srgbClr val="FF9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2635" y="384048"/>
            <a:ext cx="34015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>
                <a:solidFill>
                  <a:srgbClr val="919294"/>
                </a:solidFill>
                <a:latin typeface="Inter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169164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25880" y="2263140"/>
            <a:ext cx="91439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19" y="144018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19" y="144018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3736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39" y="3086100"/>
            <a:ext cx="9144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97479" y="2263140"/>
            <a:ext cx="0" cy="82296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97479" y="2263140"/>
            <a:ext cx="9144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86200" y="2263140"/>
            <a:ext cx="182879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06039" y="1440180"/>
            <a:ext cx="2194560" cy="0"/>
          </a:xfrm>
          <a:prstGeom prst="line">
            <a:avLst/>
          </a:prstGeom>
          <a:ln w="12700">
            <a:solidFill>
              <a:srgbClr val="6E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0599" y="1440180"/>
            <a:ext cx="0" cy="57150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66359" y="2263140"/>
            <a:ext cx="182881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46520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858000" y="2514600"/>
            <a:ext cx="0" cy="32004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26679" y="2263140"/>
            <a:ext cx="182880" cy="0"/>
          </a:xfrm>
          <a:prstGeom prst="line">
            <a:avLst/>
          </a:prstGeom>
          <a:ln w="12700">
            <a:solidFill>
              <a:srgbClr val="6E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26679" y="2263140"/>
            <a:ext cx="182880" cy="0"/>
          </a:xfrm>
          <a:prstGeom prst="line">
            <a:avLst/>
          </a:prstGeom>
          <a:ln w="12700">
            <a:solidFill>
              <a:srgbClr val="5FFA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860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agent acc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acc-agent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runs the 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118872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GitHub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clone of the 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876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app, from main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5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5FFA74"/>
                </a:solidFill>
                <a:latin typeface="Inter"/>
              </a:rPr>
              <a:t>LIVE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acc-mongo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its MongoDB, seeded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892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mongo2pg infer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without the values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7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6F6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acc-ai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AI: code, tests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4924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Build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app and its tests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acc-app-RUN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from a checkpoint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7999" y="2029968"/>
            <a:ext cx="813816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600" b="1">
                <a:solidFill>
                  <a:srgbClr val="5FFA74"/>
                </a:solidFill>
                <a:latin typeface="Inter"/>
              </a:rPr>
              <a:t>LIVE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29400" y="283464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acc-pg-RUN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the AI's postgres-init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09559" y="2011680"/>
            <a:ext cx="1097280" cy="502920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9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Pull request</a:t>
            </a:r>
          </a:p>
          <a:p>
            <a:pPr algn="ctr">
              <a:spcBef>
                <a:spcPts val="150"/>
              </a:spcBef>
            </a:pPr>
            <a:r>
              <a:rPr sz="640" b="0">
                <a:solidFill>
                  <a:srgbClr val="919294"/>
                </a:solidFill>
                <a:latin typeface="Inter"/>
              </a:rPr>
              <a:t>from agent/RUN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" y="3657600"/>
            <a:ext cx="8000999" cy="0"/>
          </a:xfrm>
          <a:prstGeom prst="line">
            <a:avLst/>
          </a:prstGeom>
          <a:ln w="12700">
            <a:solidFill>
              <a:srgbClr val="3A3D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23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1 · start</a:t>
            </a:r>
          </a:p>
        </p:txBody>
      </p:sp>
      <p:sp>
        <p:nvSpPr>
          <p:cNvPr id="67" name="Oval 66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0253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0876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2 · a fresh stack</a:t>
            </a:r>
          </a:p>
        </p:txBody>
      </p:sp>
      <p:sp>
        <p:nvSpPr>
          <p:cNvPr id="72" name="Oval 71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8269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892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3 · analyse</a:t>
            </a:r>
          </a:p>
        </p:txBody>
      </p:sp>
      <p:sp>
        <p:nvSpPr>
          <p:cNvPr id="77" name="Oval 76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6285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907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4 · change</a:t>
            </a:r>
          </a:p>
        </p:txBody>
      </p:sp>
      <p:sp>
        <p:nvSpPr>
          <p:cNvPr id="82" name="Oval 81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84301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5 · build</a:t>
            </a:r>
          </a:p>
        </p:txBody>
      </p:sp>
      <p:sp>
        <p:nvSpPr>
          <p:cNvPr id="87" name="Oval 86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123176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0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6 · sandbox</a:t>
            </a:r>
          </a:p>
        </p:txBody>
      </p:sp>
      <p:sp>
        <p:nvSpPr>
          <p:cNvPr id="92" name="Oval 91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05080F"/>
          </a:solidFill>
          <a:ln>
            <a:solidFill>
              <a:srgbClr val="3A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6E7078"/>
          </a:solidFill>
          <a:ln>
            <a:solidFill>
              <a:srgbClr val="6E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403335" y="3602736"/>
            <a:ext cx="109728" cy="109728"/>
          </a:xfrm>
          <a:prstGeom prst="ellipse">
            <a:avLst/>
          </a:prstGeom>
          <a:solidFill>
            <a:srgbClr val="5FFA74"/>
          </a:solidFill>
          <a:ln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6E7078"/>
                </a:solidFill>
                <a:latin typeface="Inter"/>
              </a:rPr>
              <a:t>7 · pull request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09559" y="3749039"/>
            <a:ext cx="109728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FFA74"/>
                </a:solidFill>
                <a:latin typeface="Inter"/>
              </a:rPr>
              <a:t>7 · pull request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9496" y="4206240"/>
            <a:ext cx="8046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7/7 · A pull request, for you to review.</a:t>
            </a:r>
            <a:r>
              <a:rPr sz="1100" b="0">
                <a:solidFill>
                  <a:srgbClr val="FFFFFF"/>
                </a:solidFill>
                <a:latin typeface="Inter"/>
              </a:rPr>
              <a:t> Both versions stay online on Nevia, to compare side by side: today's app on MongoDB, the new one on PostgreSQL. You decide to merge.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A sandbox</a:t>
            </a:r>
            <a:r>
              <a:rPr sz="1300" b="0">
                <a:solidFill>
                  <a:srgbClr val="FFFFFF"/>
                </a:solidFill>
                <a:latin typeface="Inter"/>
              </a:rPr>
              <a:t>: the new app, beside the running one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Then a pull request</a:t>
            </a:r>
            <a:r>
              <a:rPr sz="1300" b="0">
                <a:solidFill>
                  <a:srgbClr val="FFFFFF"/>
                </a:solidFill>
                <a:latin typeface="Inter"/>
              </a:rPr>
              <a:t>, with a preview URL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Cut over is yours</a:t>
            </a:r>
            <a:r>
              <a:rPr sz="1300" b="0">
                <a:solidFill>
                  <a:srgbClr val="FFFFFF"/>
                </a:solidFill>
                <a:latin typeface="Inter"/>
              </a:rPr>
              <a:t>: merge, load, switch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Roll back</a:t>
            </a:r>
            <a:r>
              <a:rPr sz="1300" b="0">
                <a:solidFill>
                  <a:srgbClr val="FFFFFF"/>
                </a:solidFill>
                <a:latin typeface="Inter"/>
              </a:rPr>
              <a:t> anytime: MongoDB is never touched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VALIDATE, CUT OVER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Validate, 5. cut over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8055864" cy="2103120"/>
          </a:xfrm>
        </p:spPr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200">
                <a:solidFill>
                  <a:srgbClr val="5FFA74"/>
                </a:solidFill>
                <a:latin typeface="Inter"/>
              </a:rPr>
              <a:t>▸  </a:t>
            </a:r>
            <a:r>
              <a:rPr sz="1200" b="1">
                <a:solidFill>
                  <a:srgbClr val="FFFFFF"/>
                </a:solidFill>
                <a:latin typeface="Inter"/>
              </a:rPr>
              <a:t>Your machine</a:t>
            </a:r>
            <a:r>
              <a:rPr sz="1200" b="0">
                <a:solidFill>
                  <a:srgbClr val="FFFFFF"/>
                </a:solidFill>
                <a:latin typeface="Inter"/>
              </a:rPr>
              <a:t> only makes the agent computer; the agent does the rest, with its own Nevia key</a:t>
            </a:r>
          </a:p>
          <a:p>
            <a:pPr marL="0" indent="0">
              <a:buNone/>
              <a:spcAft>
                <a:spcPts val="900"/>
              </a:spcAft>
            </a:pPr>
            <a:r>
              <a:rPr sz="1200">
                <a:solidFill>
                  <a:srgbClr val="5FFA74"/>
                </a:solidFill>
                <a:latin typeface="Inter"/>
              </a:rPr>
              <a:t>▸  </a:t>
            </a:r>
            <a:r>
              <a:rPr sz="1200" b="1">
                <a:solidFill>
                  <a:srgbClr val="FFFFFF"/>
                </a:solidFill>
                <a:latin typeface="Inter"/>
              </a:rPr>
              <a:t>Claude Code or Copilot CLI</a:t>
            </a:r>
            <a:r>
              <a:rPr sz="1200" b="0">
                <a:solidFill>
                  <a:srgbClr val="FFFFFF"/>
                </a:solidFill>
                <a:latin typeface="Inter"/>
              </a:rPr>
              <a:t>, one setting; models through the Aiven AI gateway; both drive Nevia with the </a:t>
            </a:r>
            <a:r>
              <a:rPr sz="1200" b="0">
                <a:solidFill>
                  <a:srgbClr val="5FFA74"/>
                </a:solidFill>
                <a:latin typeface="Geist Mono Medium"/>
              </a:rPr>
              <a:t>nevia</a:t>
            </a:r>
            <a:r>
              <a:rPr sz="1200" b="0">
                <a:solidFill>
                  <a:srgbClr val="FFFFFF"/>
                </a:solidFill>
                <a:latin typeface="Inter"/>
              </a:rPr>
              <a:t> CLI, the AI included, signed in with the agent's key</a:t>
            </a:r>
          </a:p>
          <a:p>
            <a:pPr marL="0" indent="0">
              <a:buNone/>
              <a:spcAft>
                <a:spcPts val="900"/>
              </a:spcAft>
            </a:pPr>
            <a:r>
              <a:rPr sz="1200">
                <a:solidFill>
                  <a:srgbClr val="5FFA74"/>
                </a:solidFill>
                <a:latin typeface="Inter"/>
              </a:rPr>
              <a:t>▸  </a:t>
            </a:r>
            <a:r>
              <a:rPr sz="1200" b="1">
                <a:solidFill>
                  <a:srgbClr val="FFFFFF"/>
                </a:solidFill>
                <a:latin typeface="Inter"/>
              </a:rPr>
              <a:t>One workspace, two agents</a:t>
            </a:r>
            <a:r>
              <a:rPr sz="1200" b="0">
                <a:solidFill>
                  <a:srgbClr val="FFFFFF"/>
                </a:solidFill>
                <a:latin typeface="Inter"/>
              </a:rPr>
              <a:t>: every name carries its agent (</a:t>
            </a:r>
            <a:r>
              <a:rPr sz="1200" b="0">
                <a:solidFill>
                  <a:srgbClr val="5FFA74"/>
                </a:solidFill>
                <a:latin typeface="Geist Mono Medium"/>
              </a:rPr>
              <a:t>m2p-…</a:t>
            </a:r>
            <a:r>
              <a:rPr sz="1200" b="0">
                <a:solidFill>
                  <a:srgbClr val="FFFFFF"/>
                </a:solidFill>
                <a:latin typeface="Inter"/>
              </a:rPr>
              <a:t>, </a:t>
            </a:r>
            <a:r>
              <a:rPr sz="1200" b="0">
                <a:solidFill>
                  <a:srgbClr val="5FFA74"/>
                </a:solidFill>
                <a:latin typeface="Geist Mono Medium"/>
              </a:rPr>
              <a:t>acc-…</a:t>
            </a:r>
            <a:r>
              <a:rPr sz="1200" b="0">
                <a:solidFill>
                  <a:srgbClr val="FFFFFF"/>
                </a:solidFill>
                <a:latin typeface="Inter"/>
              </a:rPr>
              <a:t>), and only those are deleted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HOW IT RUNS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runs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19" y="1700784"/>
            <a:ext cx="2148841" cy="0"/>
          </a:xfrm>
          <a:prstGeom prst="line">
            <a:avLst/>
          </a:prstGeom>
          <a:ln w="12700">
            <a:solidFill>
              <a:srgbClr val="9192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11680" y="1444752"/>
            <a:ext cx="141732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919294"/>
                </a:solidFill>
                <a:latin typeface="Inter"/>
              </a:rPr>
              <a:t>computer, key, secrets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20640" y="1700784"/>
            <a:ext cx="2148840" cy="0"/>
          </a:xfrm>
          <a:prstGeom prst="line">
            <a:avLst/>
          </a:prstGeom>
          <a:ln w="12700">
            <a:solidFill>
              <a:srgbClr val="9192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34990" y="1444752"/>
            <a:ext cx="1120140" cy="201168"/>
          </a:xfrm>
          <a:prstGeom prst="rect">
            <a:avLst/>
          </a:prstGeom>
          <a:solidFill>
            <a:srgbClr val="05080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919294"/>
                </a:solidFill>
                <a:latin typeface="Inter"/>
              </a:rPr>
              <a:t>makes and deletes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71600"/>
            <a:ext cx="1325880" cy="658368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Your machine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agent m2p |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371600"/>
            <a:ext cx="1325880" cy="658368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2ED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Agent computer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this code, an 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371600"/>
            <a:ext cx="1325880" cy="658368"/>
          </a:xfrm>
          <a:prstGeom prst="roundRect">
            <a:avLst>
              <a:gd name="adj" fmla="val 13000"/>
            </a:avLst>
          </a:prstGeom>
          <a:solidFill>
            <a:srgbClr val="05080F"/>
          </a:solidFill>
          <a:ln w="12700">
            <a:solidFill>
              <a:srgbClr val="5FF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Everything else</a:t>
            </a:r>
          </a:p>
          <a:p>
            <a:pPr algn="ctr">
              <a:spcBef>
                <a:spcPts val="150"/>
              </a:spcBef>
            </a:pPr>
            <a:r>
              <a:rPr sz="800" b="0">
                <a:solidFill>
                  <a:srgbClr val="919294"/>
                </a:solidFill>
                <a:latin typeface="Inter"/>
              </a:rPr>
              <a:t>MongoDB, Postgres, branches, sandboxes, PRs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You get</a:t>
            </a:r>
            <a:r>
              <a:rPr sz="1300" b="0">
                <a:solidFill>
                  <a:srgbClr val="FFFFFF"/>
                </a:solidFill>
                <a:latin typeface="Inter"/>
              </a:rPr>
              <a:t>: the loaded target,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final.sql</a:t>
            </a:r>
            <a:r>
              <a:rPr sz="1300" b="0">
                <a:solidFill>
                  <a:srgbClr val="FFFFFF"/>
                </a:solidFill>
                <a:latin typeface="Inter"/>
              </a:rPr>
              <a:t>, a tested PR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Limits</a:t>
            </a:r>
            <a:r>
              <a:rPr sz="1300" b="0">
                <a:solidFill>
                  <a:srgbClr val="FFFFFF"/>
                </a:solidFill>
                <a:latin typeface="Inter"/>
              </a:rPr>
              <a:t>: schemas inferred from samples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Next</a:t>
            </a:r>
            <a:r>
              <a:rPr sz="1300" b="0">
                <a:solidFill>
                  <a:srgbClr val="FFFFFF"/>
                </a:solidFill>
                <a:latin typeface="Inter"/>
              </a:rPr>
              <a:t>: more apps, the cut-over as a step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Try m2p</a:t>
            </a:r>
            <a:r>
              <a:rPr sz="1300" b="0">
                <a:solidFill>
                  <a:srgbClr val="FFFFFF"/>
                </a:solidFill>
                <a:latin typeface="Inter"/>
              </a:rPr>
              <a:t>: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agent m2p setup</a:t>
            </a:r>
            <a:r>
              <a:rPr sz="1300" b="0">
                <a:solidFill>
                  <a:srgbClr val="FFFFFF"/>
                </a:solidFill>
                <a:latin typeface="Inter"/>
              </a:rPr>
              <a:t>, then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agent m2p run</a:t>
            </a:r>
          </a:p>
          <a:p>
            <a:pPr marL="0" indent="0">
              <a:buNone/>
              <a:spcAft>
                <a:spcPts val="900"/>
              </a:spcAft>
            </a:pPr>
            <a:r>
              <a:rPr sz="1300">
                <a:solidFill>
                  <a:srgbClr val="5FFA74"/>
                </a:solidFill>
                <a:latin typeface="Inter"/>
              </a:rPr>
              <a:t>▸  </a:t>
            </a:r>
            <a:r>
              <a:rPr sz="1300" b="1">
                <a:solidFill>
                  <a:srgbClr val="FFFFFF"/>
                </a:solidFill>
                <a:latin typeface="Inter"/>
              </a:rPr>
              <a:t>Try acc</a:t>
            </a:r>
            <a:r>
              <a:rPr sz="1300" b="0">
                <a:solidFill>
                  <a:srgbClr val="FFFFFF"/>
                </a:solidFill>
                <a:latin typeface="Inter"/>
              </a:rPr>
              <a:t>: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agent acc setup</a:t>
            </a:r>
            <a:r>
              <a:rPr sz="1300" b="0">
                <a:solidFill>
                  <a:srgbClr val="FFFFFF"/>
                </a:solidFill>
                <a:latin typeface="Inter"/>
              </a:rPr>
              <a:t>, then </a:t>
            </a:r>
            <a:r>
              <a:rPr sz="1300" b="0">
                <a:solidFill>
                  <a:srgbClr val="5FFA74"/>
                </a:solidFill>
                <a:latin typeface="Geist Mono Medium"/>
              </a:rPr>
              <a:t>agent acc run migrate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From MongoDB to PostgreSQL, with AI agents on Nevia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t>WHAT NEXT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get, and what is next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">
  <a:themeElements>
    <a:clrScheme name="Simple Light">
      <a:dk1>
        <a:srgbClr val="05080F"/>
      </a:dk1>
      <a:lt1>
        <a:srgbClr val="FFFFFF"/>
      </a:lt1>
      <a:dk2>
        <a:srgbClr val="919294"/>
      </a:dk2>
      <a:lt2>
        <a:srgbClr val="EBEBEB"/>
      </a:lt2>
      <a:accent1>
        <a:srgbClr val="5FFA74"/>
      </a:accent1>
      <a:accent2>
        <a:srgbClr val="2ED0CD"/>
      </a:accent2>
      <a:accent3>
        <a:srgbClr val="6F64FF"/>
      </a:accent3>
      <a:accent4>
        <a:srgbClr val="DF56F2"/>
      </a:accent4>
      <a:accent5>
        <a:srgbClr val="F85149"/>
      </a:accent5>
      <a:accent6>
        <a:srgbClr val="FF965E"/>
      </a:accent6>
      <a:hlink>
        <a:srgbClr val="586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